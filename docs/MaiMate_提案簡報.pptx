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每月交易筆數</c:v>
                </c:pt>
              </c:strCache>
            </c:strRef>
          </c:tx>
          <c:spPr>
            <a:solidFill>
              <a:srgbClr val="162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01</c:v>
                  </c:pt>
                  <c:pt idx="1">
                    <c:v>02</c:v>
                  </c:pt>
                  <c:pt idx="2">
                    <c:v>03</c:v>
                  </c:pt>
                  <c:pt idx="3">
                    <c:v>04</c:v>
                  </c:pt>
                  <c:pt idx="4">
                    <c:v>05</c:v>
                  </c:pt>
                  <c:pt idx="5">
                    <c:v>06</c:v>
                  </c:pt>
                  <c:pt idx="6">
                    <c:v>07</c:v>
                  </c:pt>
                  <c:pt idx="7">
                    <c:v>08</c:v>
                  </c:pt>
                  <c:pt idx="8">
                    <c:v>09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388</c:v>
                </c:pt>
                <c:pt idx="1">
                  <c:v>348</c:v>
                </c:pt>
                <c:pt idx="2">
                  <c:v>402</c:v>
                </c:pt>
                <c:pt idx="3">
                  <c:v>385</c:v>
                </c:pt>
                <c:pt idx="4">
                  <c:v>416</c:v>
                </c:pt>
                <c:pt idx="5">
                  <c:v>358</c:v>
                </c:pt>
                <c:pt idx="6">
                  <c:v>406</c:v>
                </c:pt>
                <c:pt idx="7">
                  <c:v>416</c:v>
                </c:pt>
                <c:pt idx="8">
                  <c:v>392</c:v>
                </c:pt>
                <c:pt idx="9">
                  <c:v>393</c:v>
                </c:pt>
                <c:pt idx="10">
                  <c:v>395</c:v>
                </c:pt>
                <c:pt idx="11">
                  <c:v>375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 30 秒：先丟問題——在座有人知道自己去年追高了幾次嗎？沒有工具會告訴你。這就是我們做的事。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痛點對應命題原文「單向的數據圖表呈現」與「接收訊號到執行下單流程破碎」。2,660 萬先當鉤子，S6 再展開。＜商業性 20%＞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三個方向＝命題建議的「智慧AI數據分析／多維度互動介面／對話式下單生態」。串成閉環是創意度的主張之一。＜創意度 25%、主題切合度 10%＞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回應評審提問「有了 AI 可以做以前做不到的事，如何應用在專案」。四件事各對應一個模型能力：自然語言生成（翻譯人話）、結構化 tool-use（安全下單）、Agent 多輪推理（跨源查證）、個人化脈絡（行為介入）。最後一句把 Kiro 加分項也掛進來。＜創意度 25%、AI設計 15%＞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工作坊 Leon 明講平台可為桌機網頁，且要「資料雙向流動、非唯讀儀表板」——這頁的措辭直接呼應他的原話。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＜切合度 10%：各資料源組合成投資工具＞＜加分 +5%：Lv2 Private API，講到這頁時秀 Lv2 認證截圖＞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整場簡報的記憶點。全部是真實資料算出的數字（analysis/precompute.py）。評審給的資料，我們挖出了他們自己沒想到的故事。＜創意度 25% 主戰場＞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＜AI設計 15%：原文「上下文理解、主動分析數據、自動化執行交易決策」全覆蓋＞確認機制呼應 MaiCoin 自家 AI Native OS 的「所有金額異動均設明確確認機制」——評審是 MaiCoin 的人，這句要講出來。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使用者流程＝Demo 劇本，一條龍走完。首屏是靜態預計算，就算現場網路掛了也一定亮得出來。＜完成度 10%＞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官方要求的 AWS 架構圖。講三點：全 serverless 的理由（30 小時不管伺服器）、行為分析離線預計算（Demo 首屏零外部依賴）、下單流的安全設計（紅色那條）。repo 的 infra/template.yaml 就是這張圖的 SAM 實作，一鍵部署。＜可行性 20%＞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回應評審提問「為何使用這些模型＋成本效益分析」。三個論點：①模型分工按工作特性（迴圈要快用 Haiku、深度才用 Sonnet）②prompt caching 讓多輪迴圈的成本可控 ③價值錨點：月重度使用 ≈ NT$60，攔一筆衝動交易 = 16 年成本。被追問時補：不自架模型是因為競賽限 AWS 基礎模型＋30 小時內 Bedrock 免運維是唯一合理解。＜可行性 20%＞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＜可行性 20%：評分原文要求「說明各使用項目的限制，如費用、權限、用量」——這頁照著做，主動揭露反而加分＞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＜加分 +5%：採用 Kiro＞不要只說「我們有用」，講 spec-driven 在 30 小時內帶來的速度差。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＜商業性 20%＞中間那張卡是給 MaiCoin 評審聽的：這產品跟你們既有哲學一致、而且只有你們做得出來。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官方要求五項全在前面講完：解題方向 S3、AI 技術 S7、數據應用 S5、使用者流程 S8、AWS 架構 S9。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收尾一句話講完就下台，不要拖。Q&amp;A 常見問題準備：模型費用細節（S10）、為何不做 App（桌機網頁是命題允許形式）、下單安全（S7）。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840480" cy="384048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雲湧智生黑客松｜智慧理財（MaiCoin 命題）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懂你操作史的 AI 投資特助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市場數據工具很多。看得懂「你自己」的，一個都沒有。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隊伍：第五名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投資人看得到 K 線，看不到自己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這是一個真實帳戶：一年 4,674 筆買賣、5,326 筆出入金。App 告訴他餘額多少——僅此而已。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94960" cy="3017520"/>
          </a:xfrm>
          <a:prstGeom prst="roundRect">
            <a:avLst>
              <a:gd name="adj" fmla="val 2727"/>
            </a:avLst>
          </a:prstGeom>
          <a:solidFill>
            <a:srgbClr val="EAF0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468880"/>
            <a:ext cx="658368" cy="658368"/>
          </a:xfrm>
          <a:prstGeom prst="ellipse">
            <a:avLst/>
          </a:prstGeom>
          <a:solidFill>
            <a:srgbClr val="D6455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856" y="2640056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5420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沒人告訴他自己的習慣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291840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Dashboard 只是單向的圖表。他看得到每根 K 線，卻看不到自己一次又一次在高點進場——也算不出每個衝動決定的代價。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2148840"/>
            <a:ext cx="5394960" cy="3017520"/>
          </a:xfrm>
          <a:prstGeom prst="roundRect">
            <a:avLst>
              <a:gd name="adj" fmla="val 2727"/>
            </a:avLst>
          </a:prstGeom>
          <a:solidFill>
            <a:srgbClr val="EAF0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2468880"/>
            <a:ext cx="658368" cy="658368"/>
          </a:xfrm>
          <a:prstGeom prst="ellipse">
            <a:avLst/>
          </a:prstGeom>
          <a:solidFill>
            <a:srgbClr val="16224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4856" y="264005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52360" y="25420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看到訊號，來不及行動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3291840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看到訊號 → 切 App → 找交易對 → 填單。四個步驟走完，行情已經走掉。從判斷到執行，中間斷成好幾截。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這一年，這兩件事讓這個帳戶付出了 </a:t>
            </a:r>
            <a:pPr indent="0" marL="0">
              <a:buNone/>
            </a:pPr>
            <a:r>
              <a:rPr lang="en-US" sz="17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的機會成本。數字後面再拆給大家看。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我們把三件事接成一條線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54680"/>
          </a:xfrm>
          <a:prstGeom prst="roundRect">
            <a:avLst>
              <a:gd name="adj" fmla="val 2609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731520" cy="731520"/>
          </a:xfrm>
          <a:prstGeom prst="ellipse">
            <a:avLst/>
          </a:prstGeom>
          <a:solidFill>
            <a:srgbClr val="16224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24759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926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先讓帳戶開口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33832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讀完他一年 10,000 筆紀錄，把追高習慣、機會成本、持倉風險攤在他眼前。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97680" y="1737360"/>
            <a:ext cx="3474720" cy="3154680"/>
          </a:xfrm>
          <a:prstGeom prst="roundRect">
            <a:avLst>
              <a:gd name="adj" fmla="val 2609"/>
            </a:avLst>
          </a:prstGeom>
          <a:solidFill>
            <a:srgbClr val="EAF0FB"/>
          </a:solidFill>
          <a:ln/>
        </p:spPr>
      </p:sp>
      <p:sp>
        <p:nvSpPr>
          <p:cNvPr id="9" name="Shape 6"/>
          <p:cNvSpPr/>
          <p:nvPr/>
        </p:nvSpPr>
        <p:spPr>
          <a:xfrm>
            <a:off x="4617720" y="2057400"/>
            <a:ext cx="731520" cy="731520"/>
          </a:xfrm>
          <a:prstGeom prst="ellipse">
            <a:avLst/>
          </a:prstGeom>
          <a:solidFill>
            <a:srgbClr val="E8A13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915" y="224759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2926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再用人話對談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617720" y="33832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問「BTC 能不能加倉」，AI 同時看即時行情和你的持倉，給脈絡、不報明牌。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1737360"/>
            <a:ext cx="3474720" cy="3154680"/>
          </a:xfrm>
          <a:prstGeom prst="roundRect">
            <a:avLst>
              <a:gd name="adj" fmla="val 2609"/>
            </a:avLst>
          </a:prstGeom>
          <a:solidFill>
            <a:srgbClr val="EAF0FB"/>
          </a:solidFill>
          <a:ln/>
        </p:spPr>
      </p:sp>
      <p:sp>
        <p:nvSpPr>
          <p:cNvPr id="14" name="Shape 10"/>
          <p:cNvSpPr/>
          <p:nvPr/>
        </p:nvSpPr>
        <p:spPr>
          <a:xfrm>
            <a:off x="8366760" y="2057400"/>
            <a:ext cx="731520" cy="731520"/>
          </a:xfrm>
          <a:prstGeom prst="ellipse">
            <a:avLst/>
          </a:prstGeom>
          <a:solidFill>
            <a:srgbClr val="1F9D6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955" y="224759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66760" y="2926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最後一句話下單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366760" y="33832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「用 5,000 買 BTC」→ 確認卡片 → 你按下確認才成交。AI 有手，但方向盤在你手上。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521208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16224D"/>
          </a:solidFill>
          <a:ln/>
        </p:spPr>
      </p:sp>
      <p:sp>
        <p:nvSpPr>
          <p:cNvPr id="19" name="Text 14"/>
          <p:cNvSpPr/>
          <p:nvPr/>
        </p:nvSpPr>
        <p:spPr>
          <a:xfrm>
            <a:off x="914400" y="539496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pPr algn="ctr"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對話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pPr algn="ctr"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命題的三個方向，我們不是選一個做，是接成一個閉環。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沒有生成式 AI，這個產品不會存在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以前做不到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806440" y="14173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現在，在 MaiMate 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4846320" cy="877824"/>
          </a:xfrm>
          <a:prstGeom prst="roundRect">
            <a:avLst>
              <a:gd name="adj" fmla="val 9375"/>
            </a:avLst>
          </a:prstGeom>
          <a:solidFill>
            <a:srgbClr val="F4F7F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83664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個人化理財教練只屬於 VIP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一份行為分析報告要分析師花數小時，散戶請不起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40680" y="2249424"/>
            <a:ext cx="32004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5806440" y="1810512"/>
            <a:ext cx="5760720" cy="877824"/>
          </a:xfrm>
          <a:prstGeom prst="roundRect">
            <a:avLst>
              <a:gd name="adj" fmla="val 9375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0" y="1883664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把統計結果翻成每個人聽得懂的人話——一次不到一塊錢，每個散戶都請得起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98064"/>
            <a:ext cx="4846320" cy="877824"/>
          </a:xfrm>
          <a:prstGeom prst="roundRect">
            <a:avLst>
              <a:gd name="adj" fmla="val 9375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71216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「一句話下單」不敢做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傳統 NLU 抽參數太脆弱，金融場景錯不起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236976"/>
            <a:ext cx="32004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5806440" y="2798064"/>
            <a:ext cx="5760720" cy="877824"/>
          </a:xfrm>
          <a:prstGeom prst="roundRect">
            <a:avLst>
              <a:gd name="adj" fmla="val 9375"/>
            </a:avLst>
          </a:prstGeom>
          <a:solidFill>
            <a:srgbClr val="EAF0FB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2871216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Tool-use 結構化抽取意圖與參數，加確認卡兜底——就算聽錯，也不會成交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785616"/>
            <a:ext cx="4846320" cy="877824"/>
          </a:xfrm>
          <a:prstGeom prst="roundRect">
            <a:avLst>
              <a:gd name="adj" fmla="val 9375"/>
            </a:avLst>
          </a:prstGeom>
          <a:solidFill>
            <a:srgbClr val="F4F7F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58768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跨源即時推理只有人腦行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行情 × 個人歷史 × 市場脈絡的交叉判斷無法寫成規則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40680" y="4224528"/>
            <a:ext cx="32004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06440" y="3785616"/>
            <a:ext cx="5760720" cy="877824"/>
          </a:xfrm>
          <a:prstGeom prst="roundRect">
            <a:avLst>
              <a:gd name="adj" fmla="val 9375"/>
            </a:avLst>
          </a:prstGeom>
          <a:solidFill>
            <a:srgbClr val="EAF0F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3858768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自主決定查什麼、查幾輪，回答附時間戳與依據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73168"/>
            <a:ext cx="4846320" cy="877824"/>
          </a:xfrm>
          <a:prstGeom prst="roundRect">
            <a:avLst>
              <a:gd name="adj" fmla="val 9375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84632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行為警示沒人理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規則引擎只會跳「超過閾值」的通知，沒有脈絡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40680" y="5212080"/>
            <a:ext cx="32004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5806440" y="4773168"/>
            <a:ext cx="5760720" cy="877824"/>
          </a:xfrm>
          <a:prstGeom prst="roundRect">
            <a:avLst>
              <a:gd name="adj" fmla="val 9375"/>
            </a:avLst>
          </a:prstGeom>
          <a:solidFill>
            <a:srgbClr val="EAF0FB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0" y="4846320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「上次這個模式你少賺 31 萬」——用你自己的歷史數字說服你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連開發本身也是：30 小時做出這一套，靠的是 Kiro spec-driven 的 AI 開發流程。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一個畫面：健檢、對話、行情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91672" cy="41148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920240"/>
            <a:ext cx="3291840" cy="35661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行為健檢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51560" y="2560320"/>
            <a:ext cx="2834640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67919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追高指數  </a:t>
            </a:r>
            <a:pPr indent="0" marL="0">
              <a:buNone/>
            </a:pPr>
            <a:r>
              <a:rPr lang="en-US" sz="22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51560" y="3474720"/>
            <a:ext cx="2834640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359359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 </a:t>
            </a:r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2,660萬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51560" y="4389120"/>
            <a:ext cx="2834640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450799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持倉集中警示  </a:t>
            </a:r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98.6%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920240"/>
            <a:ext cx="416052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對話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17720" y="2560320"/>
            <a:ext cx="3566160" cy="685800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6791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「BTC 現在適合我加倉嗎？」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92040" y="3383280"/>
            <a:ext cx="3429000" cy="1097280"/>
          </a:xfrm>
          <a:prstGeom prst="roundRect">
            <a:avLst>
              <a:gd name="adj" fmla="val 7500"/>
            </a:avLst>
          </a:prstGeom>
          <a:solidFill>
            <a:srgbClr val="16224D"/>
          </a:solidFill>
          <a:ln/>
        </p:spPr>
      </p:sp>
      <p:sp>
        <p:nvSpPr>
          <p:cNvPr id="17" name="Text 15"/>
          <p:cNvSpPr/>
          <p:nvPr/>
        </p:nvSpPr>
        <p:spPr>
          <a:xfrm>
            <a:off x="5074920" y="350215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「BTC 現價 ○○（10:32），但你目前 BTC 已佔持倉 42%，高於你過去一年的舒適區間…」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17720" y="4617720"/>
            <a:ext cx="3703320" cy="566928"/>
          </a:xfrm>
          <a:prstGeom prst="roundRect">
            <a:avLst>
              <a:gd name="adj" fmla="val 14516"/>
            </a:avLst>
          </a:prstGeom>
          <a:solidFill>
            <a:srgbClr val="FFF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4709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下單確認卡：買入 BTC／5,000 TWD／市價　[確認] [取消]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23960" y="1920240"/>
            <a:ext cx="2788920" cy="35661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905256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即時行情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52560" y="256032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EAF0FB"/>
          </a:solidFill>
          <a:ln/>
        </p:spPr>
      </p:sp>
      <p:sp>
        <p:nvSpPr>
          <p:cNvPr id="23" name="Text 21"/>
          <p:cNvSpPr/>
          <p:nvPr/>
        </p:nvSpPr>
        <p:spPr>
          <a:xfrm>
            <a:off x="9189720" y="2651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BTC/TWD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052560" y="329184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EAF0FB"/>
          </a:solidFill>
          <a:ln/>
        </p:spPr>
      </p:sp>
      <p:sp>
        <p:nvSpPr>
          <p:cNvPr id="25" name="Text 23"/>
          <p:cNvSpPr/>
          <p:nvPr/>
        </p:nvSpPr>
        <p:spPr>
          <a:xfrm>
            <a:off x="918972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ETH/TWD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52560" y="402336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EAF0FB"/>
          </a:solidFill>
          <a:ln/>
        </p:spPr>
      </p:sp>
      <p:sp>
        <p:nvSpPr>
          <p:cNvPr id="27" name="Text 25"/>
          <p:cNvSpPr/>
          <p:nvPr/>
        </p:nvSpPr>
        <p:spPr>
          <a:xfrm>
            <a:off x="9189720" y="4114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SOL/TWD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052560" y="475488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EAF0FB"/>
          </a:solidFill>
          <a:ln/>
        </p:spPr>
      </p:sp>
      <p:sp>
        <p:nvSpPr>
          <p:cNvPr id="29" name="Text 27"/>
          <p:cNvSpPr/>
          <p:nvPr/>
        </p:nvSpPr>
        <p:spPr>
          <a:xfrm>
            <a:off x="9189720" y="48463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DOGE/TWD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桌機網頁。資料雙向流動——不只瀏覽資訊，也執行投資決策。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官方給的資料，我們全部用上、而且真的跑過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675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017520"/>
                <a:gridCol w="1325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資料源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角色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 CSV（10,000 筆／2025 全年）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行為分析引擎：追高殺低、機會成本、集中度、出入金畫像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核心差異化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API（REST + WebSocket）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即時行情、K 線、深度圖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市場即時性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API（Lv2 + KYC 已完成）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餘額查詢、下單執行（僅開交易權限，不開提領）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交易閉環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CoinMarketCap（第三方）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全市場脈絡補充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延伸視角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635240" y="1600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每月交易筆數（解析自官方資料集）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635240" y="2011680"/>
          <a:ext cx="3977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7635240" y="52120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全年 4,674 筆買賣、5,326 筆出入金；最活躍的 5 月與 8 月各 416 筆。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58064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每一列都有對應的程式與輸出，不是規劃中——是已經在跑的。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這個帳戶的一年，AI 是這樣讀的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2763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68680" y="2331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的買入發生在高點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37560" y="169164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2,350 筆買入，65% 買在近 7 筆均價之上——他習慣性追高，自己卻不知道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62763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NT$2,660萬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37960" y="2331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一年的機會成本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006840" y="169164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每筆賣出若持有至年末的價差總和——衝動的價格，第一次被算出來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16224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192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34.1%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68680" y="4023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殺低比例，其實不高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37560" y="33832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他不恐慌，只是愛追高。資料不支持的結論，我們不會硬給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315468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16224D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33192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14.2%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537960" y="4023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下跌後才出金的比例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06840" y="33832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417 筆提領大多與行情無關——出金習慣其實很健康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22315E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257800"/>
            <a:ext cx="10360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最痛的一筆：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月 8 日，他以 14.2 元賣掉 6,216 顆 DOGE。年末價格 64.54 元——那一個決定，少賺 </a:t>
            </a:r>
            <a:pPr indent="0" marL="0">
              <a:buNone/>
            </a:pPr>
            <a:r>
              <a:rPr lang="en-US" sz="15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NT$312,924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。下次同樣的模式出現時，MaiMate 會把這個數字放到他眼前。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自己決定查什麼——但下單的最後一步永遠是人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303520" cy="4069080"/>
          </a:xfrm>
          <a:prstGeom prst="roundRect">
            <a:avLst>
              <a:gd name="adj" fmla="val 2022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一次提問，AI 的思考路徑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242316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377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收到問題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306324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3017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自己判斷需要哪些資料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370332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6576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查歷史／查行情／查餘額（可多輪）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68680" y="434340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297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結果回填，繼續想（最多 8 輪）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68680" y="498348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引用具體數字回答，附時間戳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126480" y="169164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它手上的工具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224028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查個人行為指標（health_report）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 MAX 即時行情：ticker／K線／深度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查帳戶餘額（Private API）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發起下單確認卡——注意，是「發起」，不是「下單」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26480" y="4251960"/>
            <a:ext cx="5532120" cy="1508760"/>
          </a:xfrm>
          <a:prstGeom prst="roundRect">
            <a:avLst>
              <a:gd name="adj" fmla="val 5455"/>
            </a:avLst>
          </a:prstGeom>
          <a:solidFill>
            <a:srgbClr val="FDF0EF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0" y="4553712"/>
            <a:ext cx="594360" cy="594360"/>
          </a:xfrm>
          <a:prstGeom prst="ellipse">
            <a:avLst/>
          </a:prstGeom>
          <a:solidFill>
            <a:srgbClr val="D64550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334" y="4708246"/>
            <a:ext cx="285293" cy="28529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223760" y="443484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真正送單的函式，AI 根本碰不到。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它只能產生確認卡；實際下單由系統在你按下確認後觸發，憑證 60 秒過期、只能用一次。加上護欄：不報明牌、不碰個資。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等一下 Demo，就走這五步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7647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Dashboard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76479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健檢首屏直接亮出：追高 65%、機會成本 2,660 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286000"/>
            <a:ext cx="0" cy="356616"/>
          </a:xfrm>
          <a:prstGeom prst="line">
            <a:avLst/>
          </a:prstGeom>
          <a:noFill/>
          <a:ln w="19050">
            <a:solidFill>
              <a:srgbClr val="C4CF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642616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42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6243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「我去年表現怎麼樣？」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62432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查個人歷史，用具體數字回答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" y="3145536"/>
            <a:ext cx="0" cy="356616"/>
          </a:xfrm>
          <a:prstGeom prst="line">
            <a:avLst/>
          </a:prstGeom>
          <a:noFill/>
          <a:ln w="19050">
            <a:solidFill>
              <a:srgbClr val="C4CF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50215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02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4838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「BTC 現在適合我加倉嗎？」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348386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同時查行情與持倉，給脈絡、不給明牌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" y="4005072"/>
            <a:ext cx="0" cy="356616"/>
          </a:xfrm>
          <a:prstGeom prst="line">
            <a:avLst/>
          </a:prstGeom>
          <a:noFill/>
          <a:ln w="19050">
            <a:solidFill>
              <a:srgbClr val="C4CF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36168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361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80160" y="4343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「用 5,000 買 BTC」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54880" y="43434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確認卡片跳出：幣種、數量、預估價、手續費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95528" y="4864608"/>
            <a:ext cx="0" cy="356616"/>
          </a:xfrm>
          <a:prstGeom prst="line">
            <a:avLst/>
          </a:prstGeom>
          <a:noFill/>
          <a:ln w="19050">
            <a:solidFill>
              <a:srgbClr val="C4CF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221224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5221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520293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按下確認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54880" y="520293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Private API 送單成交，餘額與健檢即時更新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完整架構：全 serverless，30 小時裡我們只寫產品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3154680"/>
            <a:ext cx="1143000" cy="777240"/>
          </a:xfrm>
          <a:prstGeom prst="roundRect">
            <a:avLst>
              <a:gd name="adj" fmla="val 8235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154680"/>
            <a:ext cx="996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91640" y="3538728"/>
            <a:ext cx="384048" cy="0"/>
          </a:xfrm>
          <a:prstGeom prst="line">
            <a:avLst/>
          </a:prstGeom>
          <a:noFill/>
          <a:ln w="22225">
            <a:solidFill>
              <a:srgbClr val="16224D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2075688" y="2423160"/>
            <a:ext cx="2240280" cy="2240280"/>
          </a:xfrm>
          <a:prstGeom prst="roundRect">
            <a:avLst>
              <a:gd name="adj" fmla="val 3673"/>
            </a:avLst>
          </a:prstGeom>
          <a:solidFill>
            <a:srgbClr val="F4F7FD"/>
          </a:solidFill>
          <a:ln w="12700">
            <a:solidFill>
              <a:srgbClr val="C4CF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212848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前端（靜態託管）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58568" y="2834640"/>
            <a:ext cx="18745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31720" y="283464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CloudFront CDN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58568" y="3611880"/>
            <a:ext cx="18745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31720" y="36118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S3｜React SPA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3538728"/>
            <a:ext cx="347472" cy="0"/>
          </a:xfrm>
          <a:prstGeom prst="line">
            <a:avLst/>
          </a:prstGeom>
          <a:noFill/>
          <a:ln w="22225">
            <a:solidFill>
              <a:srgbClr val="16224D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663440" y="315468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16224D"/>
          </a:solidFill>
          <a:ln/>
        </p:spPr>
      </p:sp>
      <p:sp>
        <p:nvSpPr>
          <p:cNvPr id="14" name="Text 12"/>
          <p:cNvSpPr/>
          <p:nvPr/>
        </p:nvSpPr>
        <p:spPr>
          <a:xfrm>
            <a:off x="4736592" y="3154680"/>
            <a:ext cx="1426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Gateway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6208" y="3538728"/>
            <a:ext cx="347472" cy="0"/>
          </a:xfrm>
          <a:prstGeom prst="line">
            <a:avLst/>
          </a:prstGeom>
          <a:noFill/>
          <a:ln w="22225">
            <a:solidFill>
              <a:srgbClr val="16224D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6583680" y="1417320"/>
            <a:ext cx="2240280" cy="4389120"/>
          </a:xfrm>
          <a:prstGeom prst="roundRect">
            <a:avLst>
              <a:gd name="adj" fmla="val 3673"/>
            </a:avLst>
          </a:prstGeom>
          <a:solidFill>
            <a:srgbClr val="F4F7FD"/>
          </a:solidFill>
          <a:ln w="12700">
            <a:solidFill>
              <a:srgbClr val="C4CFE6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72084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Lambda（Python）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1828800"/>
            <a:ext cx="18745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182880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/chat｜Agent 迴圈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2697480"/>
            <a:ext cx="18745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39712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/health｜健檢查詢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3566160"/>
            <a:ext cx="18745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9712" y="356616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/market｜行情代理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66560" y="4434840"/>
            <a:ext cx="18745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39712" y="443484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/order｜下單執行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89720" y="1554480"/>
            <a:ext cx="2423160" cy="960120"/>
          </a:xfrm>
          <a:prstGeom prst="roundRect">
            <a:avLst>
              <a:gd name="adj" fmla="val 6667"/>
            </a:avLst>
          </a:prstGeom>
          <a:solidFill>
            <a:srgbClr val="FFF4E0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872" y="1554480"/>
            <a:ext cx="22768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Converse + Tool Use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Guardrails（AWS 基礎模型）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189720" y="2743200"/>
            <a:ext cx="2423160" cy="640080"/>
          </a:xfrm>
          <a:prstGeom prst="roundRect">
            <a:avLst>
              <a:gd name="adj" fmla="val 10000"/>
            </a:avLst>
          </a:prstGeom>
          <a:solidFill>
            <a:srgbClr val="EAF0FB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872" y="274320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DynamoDB｜session＋下單憑證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189720" y="3566160"/>
            <a:ext cx="2423160" cy="640080"/>
          </a:xfrm>
          <a:prstGeom prst="roundRect">
            <a:avLst>
              <a:gd name="adj" fmla="val 10000"/>
            </a:avLst>
          </a:prstGeom>
          <a:solidFill>
            <a:srgbClr val="EAF0FB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62872" y="356616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S3｜CSV + health_report.json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189720" y="4389120"/>
            <a:ext cx="2423160" cy="640080"/>
          </a:xfrm>
          <a:prstGeom prst="roundRect">
            <a:avLst>
              <a:gd name="adj" fmla="val 10000"/>
            </a:avLst>
          </a:prstGeom>
          <a:solidFill>
            <a:srgbClr val="EAF0FB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62872" y="438912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API｜Public / Private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189720" y="5212080"/>
            <a:ext cx="2423160" cy="548640"/>
          </a:xfrm>
          <a:prstGeom prst="roundRect">
            <a:avLst>
              <a:gd name="adj" fmla="val 11667"/>
            </a:avLst>
          </a:prstGeom>
          <a:solidFill>
            <a:srgbClr val="EAF0FB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62872" y="52120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CoinMarketCap（第三方）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823960" y="2148840"/>
            <a:ext cx="365760" cy="-109728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8823960" y="3035808"/>
            <a:ext cx="36576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8823960" y="3886200"/>
            <a:ext cx="36576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8823960" y="4736592"/>
            <a:ext cx="365760" cy="-18288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8823960" y="5440680"/>
            <a:ext cx="365760" cy="27432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548640" y="598932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DF0EF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6062472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下單流：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/chat 產生確認卡＋60 秒憑證（存 DynamoDB）→ ② 使用者按確認 → ③ /order 驗證並銷毀憑證 → ④ MAX Private API 成交。LLM 碰不到 ③④。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模型怎麼選、錢花在哪</a:t>
            </a:r>
            <a:endParaRPr lang="en-US" sz="2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5379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737360"/>
                <a:gridCol w="301752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模型（皆為 Bedrock）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日常對話＋工具調度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Haiku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迴圈一次要跑 3–6 趟模型，快與便宜是體驗的一部分；≈ NT$0.3／次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深度歸因＋複雜分析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Sonnet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推理較強，只在需要時升級；≈ NT$2.2／次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安全護欄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模型層攔明牌與個資，程式層再攔一次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89204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再省一手：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系統提示與工具定義用 prompt caching，重複讀取一折計價——迴圈越多趟省越多。單價以 Bedrock 主控台現價估算。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48640" y="5623560"/>
            <a:ext cx="6537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基礎設施：Demo 期間近乎 0 元（free tier）；千人規模每月估 &lt; NT$3,000（全 serverless，用多少付多少）。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360920" y="1645920"/>
            <a:ext cx="4251960" cy="4526280"/>
          </a:xfrm>
          <a:prstGeom prst="roundRect">
            <a:avLst>
              <a:gd name="adj" fmla="val 1935"/>
            </a:avLst>
          </a:prstGeom>
          <a:solidFill>
            <a:srgbClr val="0D153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成本效益，一句話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0" y="2331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NT$0.6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680960" y="30175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混合平均每次對話成本（85% 日常＋15% 深度）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80960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NT$11,480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7680960" y="4206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這個帳戶平均每筆賣出的機會成本（2,660 萬 ÷ 2,317 筆）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35240" y="4800600"/>
            <a:ext cx="3703320" cy="1051560"/>
          </a:xfrm>
          <a:prstGeom prst="roundRect">
            <a:avLst>
              <a:gd name="adj" fmla="val 7826"/>
            </a:avLst>
          </a:prstGeom>
          <a:solidFill>
            <a:srgbClr val="22315E"/>
          </a:solidFill>
          <a:ln/>
        </p:spPr>
      </p:sp>
      <p:sp>
        <p:nvSpPr>
          <p:cNvPr id="13" name="Text 10"/>
          <p:cNvSpPr/>
          <p:nvPr/>
        </p:nvSpPr>
        <p:spPr>
          <a:xfrm>
            <a:off x="7818120" y="49377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成本與限制，先講清楚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023360"/>
                <a:gridCol w="48737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限制／成本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我們的做法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模型費用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計價；一輪對話含工具呼叫約 3–6 次模型往返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常規問答走輕量模型，深度分析才升級；單次回覆上限 1,500 tokens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 用量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API 有每分鐘請求上限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行情快取 5 秒＋失敗指數退避重試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權限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 Lv2 KYC；API Key 權限可細分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只開「交易」、不開「提領」；金鑰放 Secrets Manager，不進版控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真實下單風險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是正式環境，會真的成交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確認卡強制攔截＋憑證 60 秒過期＋最小額度測試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現場網路風險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 API 可能臨時失效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自動接手＋預錄影片備援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規格先行：.kiro 目錄就是我們的開發紀律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383280"/>
          </a:xfrm>
          <a:prstGeom prst="roundRect">
            <a:avLst>
              <a:gd name="adj" fmla="val 2432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16224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2357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868680" y="33832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把紅線寫死在最上游：不報明牌、下單必確認、CSV 欄位定義、架構約定——AI 生成的每一行程式都在這個框裡。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97680" y="1737360"/>
            <a:ext cx="3474720" cy="3383280"/>
          </a:xfrm>
          <a:prstGeom prst="roundRect">
            <a:avLst>
              <a:gd name="adj" fmla="val 2432"/>
            </a:avLst>
          </a:prstGeom>
          <a:solidFill>
            <a:srgbClr val="EAF0FB"/>
          </a:solidFill>
          <a:ln/>
        </p:spPr>
      </p:sp>
      <p:sp>
        <p:nvSpPr>
          <p:cNvPr id="9" name="Shape 6"/>
          <p:cNvSpPr/>
          <p:nvPr/>
        </p:nvSpPr>
        <p:spPr>
          <a:xfrm>
            <a:off x="4617720" y="2057400"/>
            <a:ext cx="685800" cy="685800"/>
          </a:xfrm>
          <a:prstGeom prst="ellipse">
            <a:avLst/>
          </a:prstGeom>
          <a:solidFill>
            <a:srgbClr val="E8A13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28" y="223570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4617720" y="33832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每個功能先寫規格再寫程式。行為引擎的驗收條件，已經全部用真實資料打勾。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1737360"/>
            <a:ext cx="3474720" cy="3383280"/>
          </a:xfrm>
          <a:prstGeom prst="roundRect">
            <a:avLst>
              <a:gd name="adj" fmla="val 2432"/>
            </a:avLst>
          </a:prstGeom>
          <a:solidFill>
            <a:srgbClr val="EAF0FB"/>
          </a:solidFill>
          <a:ln/>
        </p:spPr>
      </p:sp>
      <p:sp>
        <p:nvSpPr>
          <p:cNvPr id="14" name="Shape 10"/>
          <p:cNvSpPr/>
          <p:nvPr/>
        </p:nvSpPr>
        <p:spPr>
          <a:xfrm>
            <a:off x="8366760" y="2057400"/>
            <a:ext cx="685800" cy="685800"/>
          </a:xfrm>
          <a:prstGeom prst="ellipse">
            <a:avLst/>
          </a:prstGeom>
          <a:solidFill>
            <a:srgbClr val="1F9D6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5068" y="223570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6676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MCP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8366760" y="33832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的 MCP server 直接接進 Kiro——開發時 AI 自己查行情、下測試單，不用手動兜 API。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repo 裡的 .kiro/ 目錄與開發過程截圖，都是佐證。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這是只有交易所做得出來的產品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給誰用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2560320"/>
            <a:ext cx="2880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活躍用戶裡的中階散戶：有交易量、繳過學費、還沒有自己的紀律系統——行為洞察對他們價值最大。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97680" y="17373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6177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為什麼是 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17720" y="2560320"/>
            <a:ext cx="2880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行為數據只有交易所自己有，外部工具永遠拿不到。確認卡機制也延續了 MaiCoin「所有金額異動須明確授權」的產品哲學——這個產品長在 MAX 身上最自然。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7373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EAF0FB"/>
          </a:solidFill>
          <a:ln/>
        </p:spPr>
      </p:sp>
      <p:sp>
        <p:nvSpPr>
          <p:cNvPr id="10" name="Text 8"/>
          <p:cNvSpPr/>
          <p:nvPr/>
        </p:nvSpPr>
        <p:spPr>
          <a:xfrm>
            <a:off x="836676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怎麼長大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66760" y="2560320"/>
            <a:ext cx="2880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先當 MAX App 的免費健檢功能養黏著；再推訂閱制進階分析；最後把行為 API 開放給量化用戶。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投資人不缺數據——缺的是「關於自己的數據」。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交付物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67128"/>
            <a:ext cx="685800" cy="685800"/>
          </a:xfrm>
          <a:prstGeom prst="ellipse">
            <a:avLst/>
          </a:prstGeom>
          <a:solidFill>
            <a:srgbClr val="E8A13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345436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Demo 網址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783080" y="25603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https://&lt;CloudFront URL&gt;（決賽部署後填入）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78308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EAF0FB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2167128"/>
            <a:ext cx="685800" cy="685800"/>
          </a:xfrm>
          <a:prstGeom prst="ellipse">
            <a:avLst/>
          </a:prstGeom>
          <a:solidFill>
            <a:srgbClr val="16224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2345436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5236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完整流程錄影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452360" y="25603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一條龍 Demo 影片（同時是現場備援）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52044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EAF0FB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3904488"/>
            <a:ext cx="685800" cy="685800"/>
          </a:xfrm>
          <a:prstGeom prst="ellipse">
            <a:avLst/>
          </a:prstGeom>
          <a:solidFill>
            <a:srgbClr val="1F293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4082796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83080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Repo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783080" y="42976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原始碼＋.kiro/ 規格＋執行說明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217920" y="352044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EAF0FB"/>
          </a:solidFill>
          <a:ln/>
        </p:spPr>
      </p:sp>
      <p:sp>
        <p:nvSpPr>
          <p:cNvPr id="19" name="Shape 14"/>
          <p:cNvSpPr/>
          <p:nvPr/>
        </p:nvSpPr>
        <p:spPr>
          <a:xfrm>
            <a:off x="6537960" y="3904488"/>
            <a:ext cx="685800" cy="685800"/>
          </a:xfrm>
          <a:prstGeom prst="ellipse">
            <a:avLst/>
          </a:prstGeom>
          <a:solidFill>
            <a:srgbClr val="1F9D6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268" y="4082796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Lv2 帳號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452360" y="42976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 已完成，Private API 已啟用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03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市場數據，人人都有。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懂你的</a:t>
            </a:r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，只有這一個。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MaiMate｜隊伍：第五名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2026-07-19T11:11:18Z</dcterms:created>
  <dcterms:modified xsi:type="dcterms:W3CDTF">2026-07-19T11:11:18Z</dcterms:modified>
</cp:coreProperties>
</file>